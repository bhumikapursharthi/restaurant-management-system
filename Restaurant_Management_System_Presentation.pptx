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1" r:id="rId2"/>
    <p:sldId id="273" r:id="rId3"/>
    <p:sldId id="274" r:id="rId4"/>
    <p:sldId id="278" r:id="rId5"/>
    <p:sldId id="279" r:id="rId6"/>
    <p:sldId id="283" r:id="rId7"/>
    <p:sldId id="286" r:id="rId8"/>
    <p:sldId id="282" r:id="rId9"/>
    <p:sldId id="287" r:id="rId10"/>
    <p:sldId id="288" r:id="rId18"/>
    <p:sldId id="28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E09D7-0ED3-4FB4-968D-50574EBBA179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963A1E-539A-4081-80D9-4186E0CB4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052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53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782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4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010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48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572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0772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962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510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0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9987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CAFCF-AC79-4329-BEB1-D88D25EDB3E2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64DDA-A803-4744-AF99-BC922F9867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87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JSPM s Rajarshi Shahu College of Engineering, Tathawade - 2023 Admission,  Fees, Courses, Ranking, Placement">
            <a:extLst>
              <a:ext uri="{FF2B5EF4-FFF2-40B4-BE49-F238E27FC236}">
                <a16:creationId xmlns:a16="http://schemas.microsoft.com/office/drawing/2014/main" id="{2AC37EFD-D716-4491-B060-F82231047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38665" cy="102473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609B56-7E2F-4878-BFF9-1726B9C0D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544" y="41200"/>
            <a:ext cx="1003735" cy="937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389D3B-D090-41D6-BB8D-F8D1A3EC2634}"/>
              </a:ext>
            </a:extLst>
          </p:cNvPr>
          <p:cNvSpPr txBox="1"/>
          <p:nvPr/>
        </p:nvSpPr>
        <p:spPr>
          <a:xfrm>
            <a:off x="1038666" y="-36784"/>
            <a:ext cx="98098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13232">
              <a:spcBef>
                <a:spcPct val="50000"/>
              </a:spcBef>
              <a:defRPr/>
            </a:pP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JSPM’s 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Rajarshi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Shahu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College of Engineering,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Tathawade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, Pune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(An Autonomous Institute affiliated to Savitribai Phule Pune University)</a:t>
            </a:r>
            <a:b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Department of Computer Science and Business 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2AA1BD-5C37-4898-838A-C1F25A58D660}"/>
              </a:ext>
            </a:extLst>
          </p:cNvPr>
          <p:cNvSpPr txBox="1"/>
          <p:nvPr/>
        </p:nvSpPr>
        <p:spPr>
          <a:xfrm>
            <a:off x="0" y="87955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Academic Year: 2026-27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74F7D-56E3-4E55-95F0-C0D8C8C11BE8}"/>
              </a:ext>
            </a:extLst>
          </p:cNvPr>
          <p:cNvSpPr txBox="1"/>
          <p:nvPr/>
        </p:nvSpPr>
        <p:spPr>
          <a:xfrm>
            <a:off x="-96688" y="1631304"/>
            <a:ext cx="121920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Project Title: Restaurant Management System</a:t>
            </a:r>
            <a:br/>
            <a:br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429130-40B3-459E-8B41-60933F69369B}"/>
              </a:ext>
            </a:extLst>
          </p:cNvPr>
          <p:cNvSpPr txBox="1"/>
          <p:nvPr/>
        </p:nvSpPr>
        <p:spPr>
          <a:xfrm>
            <a:off x="822960" y="3125576"/>
            <a:ext cx="8686800" cy="2232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t>Students Name and PRN no: Bhumi (PRN: ________),  Name 2 (PRN: ________)</a:t>
            </a:r>
            <a:br/>
            <a:r>
              <a:t>Date: ____ / ____ / 2026</a:t>
            </a: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Name: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Database Management System </a:t>
            </a:r>
            <a:endParaRPr lang="en-US" dirty="0">
              <a:solidFill>
                <a:prstClr val="black"/>
              </a:solidFill>
              <a:latin typeface="Book Antiqua"/>
            </a:endParaRP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Coordinator: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Prof. Rutuja S. </a:t>
            </a:r>
            <a:r>
              <a:rPr lang="en-US" dirty="0" err="1">
                <a:solidFill>
                  <a:prstClr val="black"/>
                </a:solidFill>
                <a:latin typeface="Book Antiqua"/>
              </a:rPr>
              <a:t>Bachhav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 </a:t>
            </a:r>
            <a:endParaRPr lang="en-IN" dirty="0">
              <a:solidFill>
                <a:prstClr val="black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60233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2341-A07E-40AE-B9DD-ADCB962B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Book Antiqua" panose="02040602050305030304" pitchFamily="18" charset="0"/>
                <a:ea typeface="+mn-ea"/>
                <a:cs typeface="+mn-cs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5491-BB56-4043-A87B-5AFAEC227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ER Diagram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 &amp; Results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532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4D90-6573-47F2-857B-6146DAAC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Introduction /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F39FD-B974-4648-976D-135720301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9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t>Definition: A Restaurant Management System (RMS) is a database application that records orders, tables, customers, employees, vendors, raw materials, services, feedback and finances, and enforces dining operational rules.</a:t>
            </a:r>
          </a:p>
          <a:p>
            <a:pPr>
              <a:spcAft>
                <a:spcPts val="900"/>
              </a:spcAft>
            </a:pPr>
            <a:r>
              <a:t>Overview: Point-of-Sale (POS) order dispatch, dynamic bill calculation, stock inventory tracking, and financial ledgers are handled as database transactions, ensuring concurrency and ACID integrity.</a:t>
            </a:r>
          </a:p>
          <a:p>
            <a:pPr>
              <a:spcAft>
                <a:spcPts val="900"/>
              </a:spcAft>
            </a:pPr>
            <a:r>
              <a:t>Domain context: Food &amp; Beverage (F&amp;B) Hospitality &amp; Retail – a fast-paced business where one wrong entry means billing leakage, kitchen delay, or ingredient stockout.</a:t>
            </a:r>
          </a:p>
          <a:p>
            <a:pPr>
              <a:spcAft>
                <a:spcPts val="900"/>
              </a:spcAft>
            </a:pPr>
            <a:r>
              <a:t>Evolution: Paper KOTs &amp; physical registers  →  standalone spreadsheets  →  proprietary POS terminals  →  integrated relational database systems with active triggers and analytics.</a:t>
            </a:r>
          </a:p>
          <a:p>
            <a:pPr>
              <a:spcAft>
                <a:spcPts val="900"/>
              </a:spcAft>
            </a:pPr>
            <a:r>
              <a:t>Motivation: Apply Chen ER modelling, 3NF normalization, MySQL schema design, active billing triggers, and analytical views to a real-world dining problem, enforcing core rules directly inside the database engine.</a:t>
            </a:r>
          </a:p>
        </p:txBody>
      </p:sp>
    </p:spTree>
    <p:extLst>
      <p:ext uri="{BB962C8B-B14F-4D97-AF65-F5344CB8AC3E}">
        <p14:creationId xmlns:p14="http://schemas.microsoft.com/office/powerpoint/2010/main" val="198337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E2CD-E867-43E3-B74F-DB925840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Problem Definition</a:t>
            </a:r>
          </a:p>
          <a:p>
            <a:r>
              <a:t>Manual paper slips (KOTs) and spreadsheets cause billing errors, delayed table service, untracked ingredient consumption, and lack of financial auditing.</a:t>
            </a:r>
          </a:p>
          <a:p>
            <a:r>
              <a:t>Build a database-driven RMS that centralizes dining data, computes order bills automatically via active database triggers, enforces inventory thresholds, and provides real-time analytics.</a:t>
            </a:r>
          </a:p>
          <a:p>
            <a:pPr>
              <a:defRPr b="1"/>
            </a:pPr>
            <a:r>
              <a:t>Objectives</a:t>
            </a:r>
          </a:p>
          <a:p>
            <a:r>
              <a:t>•  ER model → relational schema in 3NF with primary, foreign, and CHECK constraints</a:t>
            </a:r>
          </a:p>
          <a:p>
            <a:r>
              <a:t>•  MySQL DDL/DML with complete schema and realistic seed data across 15 tables</a:t>
            </a:r>
          </a:p>
          <a:p>
            <a:r>
              <a:t>•  Business logic in DB: 2 views (v_low_stock, v_monthly_profit), 3 billing triggers</a:t>
            </a:r>
          </a:p>
          <a:p>
            <a:r>
              <a:t>•  10 analytical SQL queries (JOIN, GROUP BY, HAVING, subqueries, NOT EXISTS)</a:t>
            </a:r>
          </a:p>
          <a:p>
            <a:r>
              <a:t>•  Streamlit web front end (10 interactive modules) with built-in SQL Lab for viva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883C8-F666-4B87-8F8B-246C58248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1417320"/>
            <a:ext cx="5303520" cy="4937760"/>
          </a:xfrm>
        </p:spPr>
        <p:txBody>
          <a:bodyPr wrap="square"/>
          <a:lstStyle/>
          <a:p>
            <a:pPr marL="0" indent="0">
              <a:spcAft>
                <a:spcPts val="800"/>
              </a:spcAft>
              <a:buNone/>
              <a:defRPr b="1"/>
            </a:pPr>
            <a:r>
              <a:t>Problem Definition</a:t>
            </a:r>
            <a:endParaRPr lang="en-US" sz="2000" dirty="0">
              <a:latin typeface="Book Antiqua" panose="02040602050305030304" pitchFamily="18" charset="0"/>
            </a:endParaRPr>
          </a:p>
          <a:p>
            <a:pPr>
              <a:spcAft>
                <a:spcPts val="800"/>
              </a:spcAft>
            </a:pPr>
            <a:r>
              <a:t>Manual paper slips (KOTs) and spreadsheets cause billing errors, delayed table service, untracked ingredient consumption, and lack of financial auditing.</a:t>
            </a:r>
          </a:p>
          <a:p>
            <a:pPr>
              <a:spcAft>
                <a:spcPts val="800"/>
              </a:spcAft>
            </a:pPr>
            <a:r>
              <a:t>Build a database-driven RMS that centralizes dining data, computes order bills automatically via active database triggers, enforces inventory thresholds, and provides real-time analytics.</a:t>
            </a:r>
          </a:p>
          <a:p>
            <a:pPr>
              <a:defRPr b="1"/>
            </a:pPr>
            <a:r>
              <a:t>Objectives</a:t>
            </a:r>
          </a:p>
          <a:p>
            <a:r>
              <a:t>•  ER model → relational schema in 3NF with primary, foreign, and CHECK constraints</a:t>
            </a:r>
          </a:p>
          <a:p>
            <a:r>
              <a:t>•  MySQL DDL/DML with complete schema and realistic seed data across 15 tables</a:t>
            </a:r>
          </a:p>
          <a:p>
            <a:r>
              <a:t>•  Business logic in DB: 2 views (v_low_stock, v_monthly_profit), 3 billing triggers</a:t>
            </a:r>
          </a:p>
          <a:p>
            <a:r>
              <a:t>•  10 analytical SQL queries (JOIN, GROUP BY, HAVING, subqueries, NOT EXISTS)</a:t>
            </a:r>
          </a:p>
          <a:p>
            <a:r>
              <a:t>•  Streamlit web front end (10 interactive modules) with built-in SQL Lab for viva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/>
            </a:pPr>
            <a:r>
              <a:t>Problem Definition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t>Manual paper slips (KOTs) and spreadsheets cause billing errors, delayed table service, untracked ingredient consumption, and lack of financial auditing.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t>Build a database-driven RMS that centralizes dining data, computes order bills automatically via active database triggers, enforces inventory thresholds, and provides real-time analytics.</a:t>
            </a:r>
          </a:p>
          <a:p>
            <a:pPr marL="285750" indent="-285750">
              <a:spcAft>
                <a:spcPts val="800"/>
              </a:spcAft>
              <a:buChar char="•"/>
              <a:defRPr b="1"/>
            </a:pPr>
            <a:r>
              <a:t>Objectives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t>•  ER model → relational schema in 3NF with primary, foreign, and CHECK constraints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t>•  MySQL DDL/DML with complete schema and realistic seed data across 15 tables</a:t>
            </a:r>
          </a:p>
          <a:p>
            <a:pPr marL="285750" indent="-285750">
              <a:spcAft>
                <a:spcPts val="800"/>
              </a:spcAft>
              <a:buChar char="•"/>
            </a:pPr>
            <a:r>
              <a:t>•  Business logic in DB: 2 views (v_low_stock, v_monthly_profit), 3 billing triggers</a:t>
            </a:r>
          </a:p>
          <a:p>
            <a:r>
              <a:t>•  10 analytical SQL queries (JOIN, GROUP BY, HAVING, subqueries, NOT EXISTS)</a:t>
            </a:r>
          </a:p>
          <a:p>
            <a:r>
              <a:t>•  Streamlit web front end (10 interactive modules) with built-in SQL Lab for viva demo</a:t>
            </a:r>
          </a:p>
        </p:txBody>
      </p:sp>
    </p:spTree>
    <p:extLst>
      <p:ext uri="{BB962C8B-B14F-4D97-AF65-F5344CB8AC3E}">
        <p14:creationId xmlns:p14="http://schemas.microsoft.com/office/powerpoint/2010/main" val="18175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7A29-E4E0-430B-B67A-F1E02C08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0D20C-DF7A-49E4-8B89-151415458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ext cx="0" cy="91440"/>
          </a:xfrm>
        </p:spPr>
        <p:txBody>
          <a:bodyPr wrap="square"/>
          <a:lstStyle/>
          <a:p>
            <a:endParaRPr lang="en-US" sz="2000" dirty="0">
              <a:latin typeface="Book Antiqua" panose="0204060205030503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17320"/>
          <a:ext cx="11155680" cy="340156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291840"/>
                <a:gridCol w="3108960"/>
                <a:gridCol w="4754880"/>
              </a:tblGrid>
              <a:tr h="566928">
                <a:tc>
                  <a:txBody>
                    <a:bodyPr wrap="square"/>
                    <a:lstStyle/>
                    <a:p>
                      <a:r>
                        <a:t>Approach</a:t>
                      </a:r>
                    </a:p>
                  </a:txBody>
                  <a:tcPr marT="27432" marB="27432" marL="64008" marR="64008" anchor="ctr">
                    <a:solidFill>
                      <a:srgbClr val="232D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Strengths</a:t>
                      </a:r>
                    </a:p>
                  </a:txBody>
                  <a:tcPr marT="27432" marB="27432" marL="64008" marR="64008" anchor="ctr">
                    <a:solidFill>
                      <a:srgbClr val="232D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Limitations / Gap</a:t>
                      </a:r>
                    </a:p>
                  </a:txBody>
                  <a:tcPr marT="27432" marB="27432" marL="64008" marR="64008" anchor="ctr">
                    <a:solidFill>
                      <a:srgbClr val="232D3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t>Paper registers &amp; KOTs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Cheap, no training required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No search, arithmetic mistakes, easy to lose slips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t>Spreadsheets (Excel)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Sorting and totals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No constraints, weak multi-user safety, manual formulas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t>Commercial POS (Toast, Petpooja, eZee)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Full feature set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Costly, closed proprietary design, not suited for learning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t>Student RMS projects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Easy to build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Rules kept in app code; weak triggers, unnormalized schema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t>Proposed: MySQL 8.0 + Streamlit RMS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Rules inside DB (triggers &amp; views); 3NF schema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Single restaurant prototype, expandable to multi-branch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498348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t>Theory base: Codd's relational model (1970), Chen's ER model (1976), normalization (Elmasri &amp; Navathe; Silberschatz et al.).</a:t>
            </a:r>
          </a:p>
          <a:p>
            <a:pPr>
              <a:spcAft>
                <a:spcPts val="600"/>
              </a:spcAft>
            </a:pPr>
            <a:r>
              <a:t>Gap addressed: enforce restaurant business rules and automated billing inside the database itself.</a:t>
            </a:r>
          </a:p>
        </p:txBody>
      </p:sp>
    </p:spTree>
    <p:extLst>
      <p:ext uri="{BB962C8B-B14F-4D97-AF65-F5344CB8AC3E}">
        <p14:creationId xmlns:p14="http://schemas.microsoft.com/office/powerpoint/2010/main" val="193036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77F7-0088-48A7-B16F-B6CDD750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Book Antiqua" panose="02040602050305030304" pitchFamily="18" charset="0"/>
              </a:rPr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0DD44-DB9B-458B-9D25-3AF642BFD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b="1"/>
            </a:pPr>
            <a:r>
              <a:t>Presentation tier: Streamlit Web UI, 10 interactive screens (Dashboard, Orders, Customers, Employees, Menu, Inventory &amp; Vendors, Services, Finance, Feedback, SQL Lab)</a:t>
            </a:r>
          </a:p>
          <a:p>
            <a:pPr lvl="1">
              <a:spcAft>
                <a:spcPts val="600"/>
              </a:spcAft>
            </a:pPr>
            <a:r>
              <a:t>Application tier: Python 3.13 Engine (app.py + mysql-connector-python + pandas), transaction helper tx(), dynamic query builder</a:t>
            </a:r>
          </a:p>
          <a:p>
            <a:pPr>
              <a:spcAft>
                <a:spcPts val="600"/>
              </a:spcAft>
              <a:defRPr b="1"/>
            </a:pPr>
            <a:r>
              <a:t>Data tier: MySQL 8.0 (restaurant_db) = 15 tables in 3NF, 2 analytical views, 3 active billing triggers, ACID transactions</a:t>
            </a:r>
          </a:p>
          <a:p>
            <a:pPr lvl="1">
              <a:spcAft>
                <a:spcPts val="600"/>
              </a:spcAft>
            </a:pPr>
            <a:r>
              <a:t>Zero licence cost; eliminates paper KOT costs and cashier arithmetic leakage; schema easily scales to multi-branch restaurants via restaurant_id.</a:t>
            </a:r>
          </a:p>
          <a:p>
            <a:pPr>
              <a:spcAft>
                <a:spcPts val="600"/>
              </a:spcAft>
              <a:defRPr b="1"/>
            </a:pPr>
            <a:r>
              <a:t>Operational Feasibility</a:t>
            </a:r>
          </a:p>
          <a:p>
            <a:pPr lvl="1">
              <a:spcAft>
                <a:spcPts val="600"/>
              </a:spcAft>
            </a:pPr>
            <a:r>
              <a:t>Simple 10-screen web interface for managers, waitstaff, and cashiers; database blocks invalid actions with clear SQL constraint messages, requiring minimal training.</a:t>
            </a:r>
          </a:p>
        </p:txBody>
      </p:sp>
    </p:spTree>
    <p:extLst>
      <p:ext uri="{BB962C8B-B14F-4D97-AF65-F5344CB8AC3E}">
        <p14:creationId xmlns:p14="http://schemas.microsoft.com/office/powerpoint/2010/main" val="115198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8AD-B1BC-4643-B1DF-6F3D0D7D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A560C-1674-4EE3-94B4-618D361F7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920" y="3931920"/>
            <a:ext cx="11155680" cy="256032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 i="0">
                <a:solidFill>
                  <a:srgbClr val="232D37"/>
                </a:solidFill>
                <a:latin typeface="Times New Roman"/>
              </a:rPr>
              <a:t>Presentation tier: </a:t>
            </a:r>
            <a:r>
              <a:rPr sz="1700" b="0" i="0">
                <a:solidFill>
                  <a:srgbClr val="232D37"/>
                </a:solidFill>
                <a:latin typeface="Times New Roman"/>
              </a:rPr>
              <a:t>HTML/CSS/JS, 8 screens</a:t>
            </a:r>
            <a:endParaRPr lang="en-US"/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32D37"/>
                </a:solidFill>
                <a:latin typeface="Times New Roman"/>
              </a:rPr>
              <a:t>Application tier: </a:t>
            </a:r>
            <a:r>
              <a:rPr sz="1700" b="0" i="0">
                <a:solidFill>
                  <a:srgbClr val="232D37"/>
                </a:solidFill>
                <a:latin typeface="Times New Roman"/>
              </a:rPr>
              <a:t>Express REST API, 9 route modules; calls stored procedures, then writes the audit log</a:t>
            </a:r>
          </a:p>
          <a:p>
            <a:pPr>
              <a:spcAft>
                <a:spcPts val="600"/>
              </a:spcAft>
            </a:pPr>
            <a:r>
              <a:rPr sz="1700" b="1" i="0">
                <a:solidFill>
                  <a:srgbClr val="232D37"/>
                </a:solidFill>
                <a:latin typeface="Times New Roman"/>
              </a:rPr>
              <a:t>Data tier: </a:t>
            </a:r>
            <a:r>
              <a:rPr sz="1700" b="0" i="0">
                <a:solidFill>
                  <a:srgbClr val="232D37"/>
                </a:solidFill>
                <a:latin typeface="Times New Roman"/>
              </a:rPr>
              <a:t>MySQL = transactional core with rules; MongoDB = flexible logs and feedback</a:t>
            </a:r>
          </a:p>
        </p:txBody>
      </p:sp>
      <p:pic>
        <p:nvPicPr>
          <p:cNvPr id="4" name="Picture 3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11155680" cy="213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31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29D-9EA5-4042-BC61-D443DE87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ER Diagram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9DD7C-92FE-4E55-8468-59BEDFEAC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8120" y="1371600"/>
            <a:ext cx="4114800" cy="5120640"/>
          </a:xfrm>
        </p:spPr>
        <p:txBody>
          <a:bodyPr wrap="square"/>
          <a:lstStyle/>
          <a:p>
            <a:pPr>
              <a:spcAft>
                <a:spcPts val="700"/>
              </a:spcAft>
            </a:pPr>
            <a:r>
              <a:t>Entities (10): RESTAURANT, EMPLOYEE, VENDOR, RAW_MATERIAL, MENU_ITEM, CUSTOMER, ORDERS, SERVICE, FINANCE, FEEDBACK</a:t>
            </a:r>
            <a:endParaRPr lang="en-US" sz="2000" dirty="0">
              <a:latin typeface="Book Antiqua" panose="02040602050305030304" pitchFamily="18" charset="0"/>
            </a:endParaRPr>
          </a:p>
          <a:p>
            <a:pPr>
              <a:spcAft>
                <a:spcPts val="700"/>
              </a:spcAft>
            </a:pPr>
            <a:r>
              <a:t>Bridge tables: Order_Item (M:N Contains), Employee_Vendor (M:N Talks to), Employee_Service (M:N Performs), Finance_Service (M:N For)</a:t>
            </a:r>
          </a:p>
          <a:p>
            <a:pPr>
              <a:spcAft>
                <a:spcPts val="700"/>
              </a:spcAft>
            </a:pPr>
            <a:r>
              <a:t>Multivalued: email → Customer_Email table (customer_id, email)</a:t>
            </a:r>
          </a:p>
          <a:p>
            <a:pPr>
              <a:spcAft>
                <a:spcPts val="700"/>
              </a:spcAft>
            </a:pPr>
            <a:r>
              <a:t>Derived attribute: total_amount in Orders → calculated automatically by active trigger on Order_Item</a:t>
            </a:r>
          </a:p>
          <a:p>
            <a:pPr>
              <a:spcAft>
                <a:spcPts val="700"/>
              </a:spcAft>
            </a:pPr>
            <a:r>
              <a:t>Relationships: all 1 : N (employs, supplies, serves, places, receives, provides, records, manages, gives) and M : N bridge tables</a:t>
            </a:r>
          </a:p>
          <a:p>
            <a:pPr>
              <a:spcAft>
                <a:spcPts val="700"/>
              </a:spcAft>
            </a:pPr>
            <a:r>
              <a:t>Normal form: 3NF; 15 tables with cascade/restrict integrity rules</a:t>
            </a:r>
          </a:p>
        </p:txBody>
      </p:sp>
      <p:pic>
        <p:nvPicPr>
          <p:cNvPr id="4" name="Picture 3" descr="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25880"/>
            <a:ext cx="72471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0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 &amp; Results </a:t>
            </a:r>
            <a:b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D134E-EA61-2360-8B8A-F171E29D3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5212080" cy="5029200"/>
          </a:xfrm>
        </p:spPr>
        <p:txBody>
          <a:bodyPr wrap="square"/>
          <a:lstStyle/>
          <a:p>
            <a:pPr>
              <a:spcAft>
                <a:spcPts val="700"/>
              </a:spcAft>
            </a:pPr>
            <a:r>
              <a:t>Tables (15): Restaurant, Employee, Vendor, Employee_Vendor, Raw_Material, Menu_Item, Customer, Customer_Email, Orders, Order_Item, Service, Employee_Service, Finance, Finance_Service, Feedback</a:t>
            </a:r>
            <a:endParaRPr lang="en-US" dirty="0"/>
          </a:p>
          <a:p>
            <a:pPr>
              <a:spcAft>
                <a:spcPts val="700"/>
              </a:spcAft>
            </a:pPr>
            <a:r>
              <a:t>Views (2): v_low_stock (stock &lt;= 15), v_monthly_profit (turnover - operating expenses)</a:t>
            </a:r>
          </a:p>
          <a:p>
            <a:pPr>
              <a:spcAft>
                <a:spcPts val="700"/>
              </a:spcAft>
            </a:pPr>
            <a:r>
              <a:t>Triggers (3): trg_after_order_item_insert, trg_after_order_item_update, trg_after_order_item_delete</a:t>
            </a:r>
          </a:p>
          <a:p>
            <a:pPr>
              <a:spcAft>
                <a:spcPts val="700"/>
              </a:spcAft>
            </a:pPr>
            <a:r>
              <a:t>Front End: Streamlit 10-screen responsive dashboard + interactive SQL Lab</a:t>
            </a:r>
          </a:p>
          <a:p>
            <a:pPr>
              <a:spcAft>
                <a:spcPts val="700"/>
              </a:spcAft>
            </a:pPr>
            <a:r>
              <a:t>Integrity: FOREIGN KEY ON DELETE RESTRICT (Customer), CASCADE (Order_Item), CHECK rating 1-5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232D37"/>
                </a:solidFill>
                <a:latin typeface="Times New Roman"/>
              </a:rPr>
              <a:t>MongoDB: </a:t>
            </a:r>
            <a:r>
              <a:rPr sz="1500" b="0" i="0">
                <a:solidFill>
                  <a:srgbClr val="232D37"/>
                </a:solidFill>
                <a:latin typeface="Times New Roman"/>
              </a:rPr>
              <a:t>activity_logs, feedback (indexed)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417320"/>
            <a:ext cx="5943600" cy="475488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t>-- trg_after_order_item_insert (core automated billing logic)</a:t>
            </a:r>
          </a:p>
          <a:p>
            <a:pPr>
              <a:spcAft>
                <a:spcPts val="0"/>
              </a:spcAft>
            </a:pPr>
            <a:r>
              <a:t>CREATE TRIGGER trg_after_order_item_insert</a:t>
            </a:r>
          </a:p>
          <a:p>
            <a:pPr>
              <a:spcAft>
                <a:spcPts val="0"/>
              </a:spcAft>
            </a:pPr>
            <a:r>
              <a:t>AFTER INSERT ON Order_Item FOR EACH ROW</a:t>
            </a:r>
          </a:p>
          <a:p>
            <a:pPr>
              <a:spcAft>
                <a:spcPts val="0"/>
              </a:spcAft>
            </a:pPr>
            <a:r>
              <a:t>BEGIN</a:t>
            </a:r>
          </a:p>
          <a:p>
            <a:pPr>
              <a:spcAft>
                <a:spcPts val="0"/>
              </a:spcAft>
            </a:pPr>
            <a:r>
              <a:t>  UPDATE Orders</a:t>
            </a:r>
          </a:p>
          <a:p>
            <a:pPr>
              <a:spcAft>
                <a:spcPts val="0"/>
              </a:spcAft>
            </a:pPr>
            <a:r>
              <a:t>     SET total_amount = (</a:t>
            </a:r>
          </a:p>
          <a:p>
            <a:pPr>
              <a:spcAft>
                <a:spcPts val="0"/>
              </a:spcAft>
            </a:pPr>
            <a:r>
              <a:t>       SELECT COALESCE(SUM(oi.quantity * m.price), 0.00)</a:t>
            </a:r>
          </a:p>
          <a:p>
            <a:pPr>
              <a:spcAft>
                <a:spcPts val="0"/>
              </a:spcAft>
            </a:pPr>
            <a:r>
              <a:t>         FROM Order_Item oi</a:t>
            </a:r>
          </a:p>
          <a:p>
            <a:pPr>
              <a:spcAft>
                <a:spcPts val="0"/>
              </a:spcAft>
            </a:pPr>
            <a:r>
              <a:t>         JOIN Menu_Item m ON m.item_id = oi.item_id</a:t>
            </a:r>
          </a:p>
          <a:p>
            <a:pPr>
              <a:spcAft>
                <a:spcPts val="0"/>
              </a:spcAft>
            </a:pPr>
            <a:r>
              <a:t>        WHERE oi.order_id = NEW.order_id</a:t>
            </a:r>
          </a:p>
          <a:p>
            <a:pPr>
              <a:spcAft>
                <a:spcPts val="0"/>
              </a:spcAft>
            </a:pPr>
            <a:r>
              <a:t>     )</a:t>
            </a:r>
          </a:p>
          <a:p>
            <a:pPr>
              <a:spcAft>
                <a:spcPts val="0"/>
              </a:spcAft>
            </a:pPr>
            <a:r>
              <a:t>   WHERE order_id = NEW.order_id;</a:t>
            </a:r>
          </a:p>
          <a:p>
            <a:pPr>
              <a:spcAft>
                <a:spcPts val="0"/>
              </a:spcAft>
            </a:pPr>
            <a:r>
              <a:t>END;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Courier New"/>
              </a:rPr>
              <a:t>   'Cannot check out: Outstanding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Courier New"/>
              </a:rPr>
              <a:t>    balance unpaid.';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Courier New"/>
              </a:rPr>
              <a:t>END IF;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Courier New"/>
              </a:rPr>
              <a:t/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Courier New"/>
              </a:rPr>
              <a:t>UPDATE booking SET status='Checked-out'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Courier New"/>
              </a:rPr>
              <a:t> WHERE booking_id = p_booking_id;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Courier New"/>
              </a:rPr>
              <a:t>UPDATE room SET availability='Available'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Courier New"/>
              </a:rPr>
              <a:t> WHERE hotel_id=v_hotel_id AND room_no=v_room_no;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1B1B1B"/>
                </a:solidFill>
                <a:latin typeface="Courier New"/>
              </a:rPr>
              <a:t>COMMIT;</a:t>
            </a:r>
          </a:p>
        </p:txBody>
      </p:sp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 &amp; Results (contd.)</a:t>
            </a:r>
            <a:b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t>Best-selling items &amp; Pricing (Menu_Item JOIN Order_Item)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5577840" cy="186537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43200"/>
                <a:gridCol w="1280160"/>
                <a:gridCol w="1554480"/>
              </a:tblGrid>
              <a:tr h="310896">
                <a:tc>
                  <a:txBody>
                    <a:bodyPr wrap="square"/>
                    <a:lstStyle/>
                    <a:p>
                      <a:r>
                        <a:t>Menu Item</a:t>
                      </a:r>
                    </a:p>
                  </a:txBody>
                  <a:tcPr marT="27432" marB="27432" marL="64008" marR="64008" anchor="ctr">
                    <a:solidFill>
                      <a:srgbClr val="232D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Category</a:t>
                      </a:r>
                    </a:p>
                  </a:txBody>
                  <a:tcPr marT="27432" marB="27432" marL="64008" marR="64008" anchor="ctr">
                    <a:solidFill>
                      <a:srgbClr val="232D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Price</a:t>
                      </a:r>
                    </a:p>
                  </a:txBody>
                  <a:tcPr marT="27432" marB="27432" marL="64008" marR="64008" anchor="ctr">
                    <a:solidFill>
                      <a:srgbClr val="232D3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t>Butter Chicken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Main Course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Rs 340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t>Chicken Dum Biryani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Main Course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Rs 320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t>Paneer Butter Masala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Main Course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Rs 290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t>Paneer Tikka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Starter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Rs 240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t>Garlic Naan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Bread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Rs 55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t>Monthly Profit Analysis (view v_monthly_profit)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4160520"/>
          <a:ext cx="5577840" cy="9326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1828800"/>
                <a:gridCol w="1920240"/>
              </a:tblGrid>
              <a:tr h="310896">
                <a:tc>
                  <a:txBody>
                    <a:bodyPr wrap="square"/>
                    <a:lstStyle/>
                    <a:p>
                      <a:r>
                        <a:t>Month</a:t>
                      </a:r>
                    </a:p>
                  </a:txBody>
                  <a:tcPr marT="27432" marB="27432" marL="64008" marR="64008" anchor="ctr">
                    <a:solidFill>
                      <a:srgbClr val="232D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Turnover</a:t>
                      </a:r>
                    </a:p>
                  </a:txBody>
                  <a:tcPr marT="27432" marB="27432" marL="64008" marR="64008" anchor="ctr">
                    <a:solidFill>
                      <a:srgbClr val="232D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Profit</a:t>
                      </a:r>
                    </a:p>
                  </a:txBody>
                  <a:tcPr marT="27432" marB="27432" marL="64008" marR="64008" anchor="ctr">
                    <a:solidFill>
                      <a:srgbClr val="232D3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t>2026-09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345,000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59,100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t>2026-08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320,000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29,200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t>Low Stock Alerts (view v_low_stock with Vendor Contact)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1645920"/>
          <a:ext cx="5486400" cy="15544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4400"/>
                <a:gridCol w="2286000"/>
                <a:gridCol w="914400"/>
                <a:gridCol w="1371600"/>
              </a:tblGrid>
              <a:tr h="310896">
                <a:tc>
                  <a:txBody>
                    <a:bodyPr wrap="square"/>
                    <a:lstStyle/>
                    <a:p>
                      <a:r>
                        <a:t>Material</a:t>
                      </a:r>
                    </a:p>
                  </a:txBody>
                  <a:tcPr marT="27432" marB="27432" marL="64008" marR="64008" anchor="ctr">
                    <a:solidFill>
                      <a:srgbClr val="232D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Stock</a:t>
                      </a:r>
                    </a:p>
                  </a:txBody>
                  <a:tcPr marT="27432" marB="27432" marL="64008" marR="64008" anchor="ctr">
                    <a:solidFill>
                      <a:srgbClr val="232D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Unit</a:t>
                      </a:r>
                    </a:p>
                  </a:txBody>
                  <a:tcPr marT="27432" marB="27432" marL="64008" marR="64008" anchor="ctr">
                    <a:solidFill>
                      <a:srgbClr val="232D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Vendor Phone</a:t>
                      </a:r>
                    </a:p>
                  </a:txBody>
                  <a:tcPr marT="27432" marB="27432" marL="64008" marR="64008" anchor="ctr">
                    <a:solidFill>
                      <a:srgbClr val="232D3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t>Fresh Milk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6.00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litre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9876501234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t>Paneer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8.50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kg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9876501234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t>Chicken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12.00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kg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9811223344</a:t>
                      </a:r>
                    </a:p>
                  </a:txBody>
                  <a:tcPr marT="27432" marB="27432" marL="64008" marR="64008" anchor="ctr">
                    <a:solidFill>
                      <a:srgbClr val="F2F5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t>Tomatoes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25.00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kg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t>9876543210</a:t>
                      </a:r>
                    </a:p>
                  </a:txBody>
                  <a:tcPr marT="27432" marB="27432" marL="64008" marR="6400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09360" y="3429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t>Rules enforced by the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840480"/>
            <a:ext cx="5486400" cy="1920240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1B1B1B"/>
                </a:solidFill>
                <a:latin typeface="Courier New"/>
              </a:rPr>
              <a:t>Check-out with dues  -&gt;  ERROR 1644: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B1B1B"/>
                </a:solidFill>
                <a:latin typeface="Courier New"/>
              </a:rPr>
              <a:t> Cannot check out: Outstanding balance unpaid.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B1B1B"/>
                </a:solidFill>
                <a:latin typeface="Courier New"/>
              </a:rPr>
              <a:t>Overlapping dates    -&gt;  ERROR 1644: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B1B1B"/>
                </a:solidFill>
                <a:latin typeface="Courier New"/>
              </a:rPr>
              <a:t> Room is already reserved or occupied.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B1B1B"/>
                </a:solidFill>
                <a:latin typeface="Courier New"/>
              </a:rPr>
              <a:t>4 guests in 2-guest room -&gt; ERROR 1644: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B1B1B"/>
                </a:solidFill>
                <a:latin typeface="Courier New"/>
              </a:rPr>
              <a:t> Number of guests exceeds capacity.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 i="0">
                <a:solidFill>
                  <a:srgbClr val="232D37"/>
                </a:solidFill>
                <a:latin typeface="Times New Roman"/>
              </a:rPr>
              <a:t>Results from the seed data: 20 rooms, 10 customers, 12 bookings, 11 payments; 10 report queries run; all invalid operations rejected.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Book Antiqua" panose="02040602050305030304" pitchFamily="18" charset="0"/>
              </a:rPr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DA3A2B-6D03-4D04-9D87-415BE72FB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900"/>
              </a:spcAft>
            </a:pPr>
            <a:r>
              <a:t>Built: a complete Restaurant Management System – Chen ER diagram → 3NF MySQL schema → Streamlit Web UI.</a:t>
            </a:r>
            <a:endParaRPr lang="en-US"/>
          </a:p>
          <a:p>
            <a:pPr>
              <a:spcAft>
                <a:spcPts val="900"/>
              </a:spcAft>
            </a:pPr>
            <a:r>
              <a:t>Rules live in the database: Constraints, 2 views, 3 active billing triggers, and cascade/restrict foreign keys.</a:t>
            </a:r>
          </a:p>
          <a:p>
            <a:pPr>
              <a:spcAft>
                <a:spcPts val="900"/>
              </a:spcAft>
            </a:pPr>
            <a:r>
              <a:t>3-Tier Design: Streamlit (Presentation) ↔ Python Engine (Logic) ↔ MySQL 8.0 InnoDB (Data).</a:t>
            </a:r>
          </a:p>
          <a:p>
            <a:pPr>
              <a:spcAft>
                <a:spcPts val="900"/>
              </a:spcAft>
            </a:pPr>
            <a:r>
              <a:t>Outcome: Zero billing discrepancies; live stock alerts; centralized staff, menu, vendor, and financial accounting.</a:t>
            </a:r>
          </a:p>
          <a:p>
            <a:pPr>
              <a:spcAft>
                <a:spcPts val="900"/>
              </a:spcAft>
            </a:pPr>
            <a:r>
              <a:t>Future scope: Table-side QR-code ordering, online payment gateway (Razorpay/Stripe), machine learning demand forecasting.</a:t>
            </a:r>
          </a:p>
        </p:txBody>
      </p:sp>
    </p:spTree>
    <p:extLst>
      <p:ext uri="{BB962C8B-B14F-4D97-AF65-F5344CB8AC3E}">
        <p14:creationId xmlns:p14="http://schemas.microsoft.com/office/powerpoint/2010/main" val="4053351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59A8-4301-4C8E-80D1-086242B7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sz="3200" b="1" dirty="0">
                <a:latin typeface="Book Antiqua" panose="02040602050305030304" pitchFamily="18" charset="0"/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5AD439-A3E7-7E4A-128B-AA8CF1C27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700"/>
              </a:spcAft>
            </a:pPr>
            <a:r>
              <a:t>E. F. Codd, “A Relational Model of Data for Large Shared Data Banks,” CACM, 13(6), 1970.</a:t>
            </a:r>
            <a:endParaRPr lang="en-US"/>
          </a:p>
          <a:p>
            <a:pPr>
              <a:spcAft>
                <a:spcPts val="700"/>
              </a:spcAft>
            </a:pPr>
            <a:r>
              <a:t>P. P. Chen, “The Entity-Relationship Model,” ACM TODS, 1(1), 1976.</a:t>
            </a:r>
          </a:p>
          <a:p>
            <a:pPr>
              <a:spcAft>
                <a:spcPts val="700"/>
              </a:spcAft>
            </a:pPr>
            <a:r>
              <a:t>R. Elmasri &amp; S. B. Navathe, Fundamentals of Database Systems, 7th ed., Pearson, 2016.</a:t>
            </a:r>
          </a:p>
          <a:p>
            <a:pPr>
              <a:spcAft>
                <a:spcPts val="700"/>
              </a:spcAft>
            </a:pPr>
            <a:r>
              <a:t>A. Silberschatz, H. F. Korth &amp; S. Sudarshan, Database System Concepts, 7th ed., McGraw-Hill, 2019.</a:t>
            </a:r>
          </a:p>
          <a:p>
            <a:pPr>
              <a:spcAft>
                <a:spcPts val="700"/>
              </a:spcAft>
            </a:pPr>
            <a:r>
              <a:t>MySQL 8.0 Reference Manual – dev.mysql.com/doc/refman/8.0/en/</a:t>
            </a:r>
          </a:p>
          <a:p>
            <a:pPr>
              <a:spcAft>
                <a:spcPts val="700"/>
              </a:spcAft>
            </a:pPr>
            <a:r>
              <a:t>Streamlit Documentation – docs.streamlit.io</a:t>
            </a:r>
          </a:p>
          <a:p>
            <a:pPr>
              <a:spcAft>
                <a:spcPts val="700"/>
              </a:spcAft>
            </a:pPr>
            <a:r>
              <a:t>Pandas Library Documentation – pandas.pydata.org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32D37"/>
                </a:solidFill>
                <a:latin typeface="Times New Roman"/>
              </a:rPr>
              <a:t>Express.js – expressjs.com ;  Node.js – nodejs.org</a:t>
            </a:r>
          </a:p>
        </p:txBody>
      </p:sp>
    </p:spTree>
    <p:extLst>
      <p:ext uri="{BB962C8B-B14F-4D97-AF65-F5344CB8AC3E}">
        <p14:creationId xmlns:p14="http://schemas.microsoft.com/office/powerpoint/2010/main" val="94039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166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 Antiqua</vt:lpstr>
      <vt:lpstr>Bookman Old Style</vt:lpstr>
      <vt:lpstr>Calibri</vt:lpstr>
      <vt:lpstr>Times New Roman</vt:lpstr>
      <vt:lpstr>Office Theme</vt:lpstr>
      <vt:lpstr>PowerPoint Presentation</vt:lpstr>
      <vt:lpstr>Index</vt:lpstr>
      <vt:lpstr>Introduction / Background</vt:lpstr>
      <vt:lpstr>Problem Definition &amp; Objectives </vt:lpstr>
      <vt:lpstr>Literature Survey </vt:lpstr>
      <vt:lpstr>Feasibility Study</vt:lpstr>
      <vt:lpstr>System Design &amp; Architecture </vt:lpstr>
      <vt:lpstr>Database Design &amp; ER Diagram </vt:lpstr>
      <vt:lpstr>SQL Implementation &amp; Results  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Win-10</dc:creator>
  <cp:lastModifiedBy>admin</cp:lastModifiedBy>
  <cp:revision>44</cp:revision>
  <dcterms:created xsi:type="dcterms:W3CDTF">2023-11-19T03:41:15Z</dcterms:created>
  <dcterms:modified xsi:type="dcterms:W3CDTF">2026-10-05T10:40:33Z</dcterms:modified>
</cp:coreProperties>
</file>